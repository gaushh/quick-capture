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56032"/>
            <a:ext cx="64008" cy="64008"/>
          </a:xfrm>
          <a:prstGeom prst="ellipse">
            <a:avLst/>
          </a:prstGeom>
          <a:solidFill>
            <a:srgbClr val="5E6AD2">
              <a:alpha val="24000"/>
            </a:srgbClr>
          </a:solidFill>
          <a:ln w="12700">
            <a:solidFill>
              <a:srgbClr val="5E6AD2">
                <a:alpha val="2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530352"/>
            <a:ext cx="64008" cy="64008"/>
          </a:xfrm>
          <a:prstGeom prst="ellipse">
            <a:avLst/>
          </a:prstGeom>
          <a:solidFill>
            <a:srgbClr val="5E6AD2">
              <a:alpha val="24000"/>
            </a:srgbClr>
          </a:solidFill>
          <a:ln w="12700">
            <a:solidFill>
              <a:srgbClr val="5E6AD2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804672"/>
            <a:ext cx="64008" cy="64008"/>
          </a:xfrm>
          <a:prstGeom prst="ellipse">
            <a:avLst/>
          </a:prstGeom>
          <a:solidFill>
            <a:srgbClr val="5E6AD2">
              <a:alpha val="24000"/>
            </a:srgbClr>
          </a:solidFill>
          <a:ln w="12700">
            <a:solidFill>
              <a:srgbClr val="5E6AD2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1078992"/>
            <a:ext cx="64008" cy="64008"/>
          </a:xfrm>
          <a:prstGeom prst="ellipse">
            <a:avLst/>
          </a:prstGeom>
          <a:solidFill>
            <a:srgbClr val="5E6AD2">
              <a:alpha val="24000"/>
            </a:srgbClr>
          </a:solidFill>
          <a:ln w="12700">
            <a:solidFill>
              <a:srgbClr val="5E6AD2">
                <a:alpha val="2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1353312"/>
            <a:ext cx="64008" cy="64008"/>
          </a:xfrm>
          <a:prstGeom prst="ellipse">
            <a:avLst/>
          </a:prstGeom>
          <a:solidFill>
            <a:srgbClr val="5E6AD2">
              <a:alpha val="24000"/>
            </a:srgbClr>
          </a:solidFill>
          <a:ln w="12700">
            <a:solidFill>
              <a:srgbClr val="5E6AD2">
                <a:alpha val="2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0" y="256032"/>
            <a:ext cx="64008" cy="64008"/>
          </a:xfrm>
          <a:prstGeom prst="ellipse">
            <a:avLst/>
          </a:prstGeom>
          <a:solidFill>
            <a:srgbClr val="5E6AD2">
              <a:alpha val="24000"/>
            </a:srgbClr>
          </a:solidFill>
          <a:ln w="12700">
            <a:solidFill>
              <a:srgbClr val="5E6AD2">
                <a:alpha val="2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0" y="530352"/>
            <a:ext cx="64008" cy="64008"/>
          </a:xfrm>
          <a:prstGeom prst="ellipse">
            <a:avLst/>
          </a:prstGeom>
          <a:solidFill>
            <a:srgbClr val="5E6AD2">
              <a:alpha val="24000"/>
            </a:srgbClr>
          </a:solidFill>
          <a:ln w="12700">
            <a:solidFill>
              <a:srgbClr val="5E6AD2">
                <a:alpha val="2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0" y="804672"/>
            <a:ext cx="64008" cy="64008"/>
          </a:xfrm>
          <a:prstGeom prst="ellipse">
            <a:avLst/>
          </a:prstGeom>
          <a:solidFill>
            <a:srgbClr val="5E6AD2">
              <a:alpha val="24000"/>
            </a:srgbClr>
          </a:solidFill>
          <a:ln w="12700">
            <a:solidFill>
              <a:srgbClr val="5E6AD2">
                <a:alpha val="2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0" y="1078992"/>
            <a:ext cx="64008" cy="64008"/>
          </a:xfrm>
          <a:prstGeom prst="ellipse">
            <a:avLst/>
          </a:prstGeom>
          <a:solidFill>
            <a:srgbClr val="5E6AD2">
              <a:alpha val="24000"/>
            </a:srgbClr>
          </a:solidFill>
          <a:ln w="12700">
            <a:solidFill>
              <a:srgbClr val="5E6AD2">
                <a:alpha val="2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0" y="1353312"/>
            <a:ext cx="64008" cy="64008"/>
          </a:xfrm>
          <a:prstGeom prst="ellipse">
            <a:avLst/>
          </a:prstGeom>
          <a:solidFill>
            <a:srgbClr val="5E6AD2">
              <a:alpha val="24000"/>
            </a:srgbClr>
          </a:solidFill>
          <a:ln w="12700">
            <a:solidFill>
              <a:srgbClr val="5E6AD2">
                <a:alpha val="2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06640" y="256032"/>
            <a:ext cx="64008" cy="64008"/>
          </a:xfrm>
          <a:prstGeom prst="ellipse">
            <a:avLst/>
          </a:prstGeom>
          <a:solidFill>
            <a:srgbClr val="5E6AD2">
              <a:alpha val="24000"/>
            </a:srgbClr>
          </a:solidFill>
          <a:ln w="12700">
            <a:solidFill>
              <a:srgbClr val="5E6AD2">
                <a:alpha val="2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06640" y="530352"/>
            <a:ext cx="64008" cy="64008"/>
          </a:xfrm>
          <a:prstGeom prst="ellipse">
            <a:avLst/>
          </a:prstGeom>
          <a:solidFill>
            <a:srgbClr val="5E6AD2">
              <a:alpha val="24000"/>
            </a:srgbClr>
          </a:solidFill>
          <a:ln w="12700">
            <a:solidFill>
              <a:srgbClr val="5E6AD2">
                <a:alpha val="2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06640" y="804672"/>
            <a:ext cx="64008" cy="64008"/>
          </a:xfrm>
          <a:prstGeom prst="ellipse">
            <a:avLst/>
          </a:prstGeom>
          <a:solidFill>
            <a:srgbClr val="5E6AD2">
              <a:alpha val="24000"/>
            </a:srgbClr>
          </a:solidFill>
          <a:ln w="12700">
            <a:solidFill>
              <a:srgbClr val="5E6AD2">
                <a:alpha val="2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06640" y="1078992"/>
            <a:ext cx="64008" cy="64008"/>
          </a:xfrm>
          <a:prstGeom prst="ellipse">
            <a:avLst/>
          </a:prstGeom>
          <a:solidFill>
            <a:srgbClr val="5E6AD2">
              <a:alpha val="24000"/>
            </a:srgbClr>
          </a:solidFill>
          <a:ln w="12700">
            <a:solidFill>
              <a:srgbClr val="5E6AD2">
                <a:alpha val="2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0" y="1353312"/>
            <a:ext cx="64008" cy="64008"/>
          </a:xfrm>
          <a:prstGeom prst="ellipse">
            <a:avLst/>
          </a:prstGeom>
          <a:solidFill>
            <a:srgbClr val="5E6AD2">
              <a:alpha val="24000"/>
            </a:srgbClr>
          </a:solidFill>
          <a:ln w="12700">
            <a:solidFill>
              <a:srgbClr val="5E6AD2">
                <a:alpha val="2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0" y="256032"/>
            <a:ext cx="64008" cy="64008"/>
          </a:xfrm>
          <a:prstGeom prst="ellipse">
            <a:avLst/>
          </a:prstGeom>
          <a:solidFill>
            <a:srgbClr val="5E6AD2">
              <a:alpha val="24000"/>
            </a:srgbClr>
          </a:solidFill>
          <a:ln w="12700">
            <a:solidFill>
              <a:srgbClr val="5E6AD2">
                <a:alpha val="2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0" y="530352"/>
            <a:ext cx="64008" cy="64008"/>
          </a:xfrm>
          <a:prstGeom prst="ellipse">
            <a:avLst/>
          </a:prstGeom>
          <a:solidFill>
            <a:srgbClr val="5E6AD2">
              <a:alpha val="24000"/>
            </a:srgbClr>
          </a:solidFill>
          <a:ln w="12700">
            <a:solidFill>
              <a:srgbClr val="5E6AD2">
                <a:alpha val="2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0960" y="804672"/>
            <a:ext cx="64008" cy="64008"/>
          </a:xfrm>
          <a:prstGeom prst="ellipse">
            <a:avLst/>
          </a:prstGeom>
          <a:solidFill>
            <a:srgbClr val="5E6AD2">
              <a:alpha val="24000"/>
            </a:srgbClr>
          </a:solidFill>
          <a:ln w="12700">
            <a:solidFill>
              <a:srgbClr val="5E6AD2">
                <a:alpha val="2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1078992"/>
            <a:ext cx="64008" cy="64008"/>
          </a:xfrm>
          <a:prstGeom prst="ellipse">
            <a:avLst/>
          </a:prstGeom>
          <a:solidFill>
            <a:srgbClr val="5E6AD2">
              <a:alpha val="24000"/>
            </a:srgbClr>
          </a:solidFill>
          <a:ln w="12700">
            <a:solidFill>
              <a:srgbClr val="5E6AD2">
                <a:alpha val="2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0" y="1353312"/>
            <a:ext cx="64008" cy="64008"/>
          </a:xfrm>
          <a:prstGeom prst="ellipse">
            <a:avLst/>
          </a:prstGeom>
          <a:solidFill>
            <a:srgbClr val="5E6AD2">
              <a:alpha val="24000"/>
            </a:srgbClr>
          </a:solidFill>
          <a:ln w="12700">
            <a:solidFill>
              <a:srgbClr val="5E6AD2">
                <a:alpha val="2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0" y="256032"/>
            <a:ext cx="64008" cy="64008"/>
          </a:xfrm>
          <a:prstGeom prst="ellipse">
            <a:avLst/>
          </a:prstGeom>
          <a:solidFill>
            <a:srgbClr val="5E6AD2">
              <a:alpha val="24000"/>
            </a:srgbClr>
          </a:solidFill>
          <a:ln w="12700">
            <a:solidFill>
              <a:srgbClr val="5E6AD2">
                <a:alpha val="2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55280" y="530352"/>
            <a:ext cx="64008" cy="64008"/>
          </a:xfrm>
          <a:prstGeom prst="ellipse">
            <a:avLst/>
          </a:prstGeom>
          <a:solidFill>
            <a:srgbClr val="5E6AD2">
              <a:alpha val="24000"/>
            </a:srgbClr>
          </a:solidFill>
          <a:ln w="12700">
            <a:solidFill>
              <a:srgbClr val="5E6AD2">
                <a:alpha val="2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0" y="804672"/>
            <a:ext cx="64008" cy="64008"/>
          </a:xfrm>
          <a:prstGeom prst="ellipse">
            <a:avLst/>
          </a:prstGeom>
          <a:solidFill>
            <a:srgbClr val="5E6AD2">
              <a:alpha val="24000"/>
            </a:srgbClr>
          </a:solidFill>
          <a:ln w="12700">
            <a:solidFill>
              <a:srgbClr val="5E6AD2">
                <a:alpha val="2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55280" y="1078992"/>
            <a:ext cx="64008" cy="64008"/>
          </a:xfrm>
          <a:prstGeom prst="ellipse">
            <a:avLst/>
          </a:prstGeom>
          <a:solidFill>
            <a:srgbClr val="5E6AD2">
              <a:alpha val="24000"/>
            </a:srgbClr>
          </a:solidFill>
          <a:ln w="12700">
            <a:solidFill>
              <a:srgbClr val="5E6AD2">
                <a:alpha val="2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5280" y="1353312"/>
            <a:ext cx="64008" cy="64008"/>
          </a:xfrm>
          <a:prstGeom prst="ellipse">
            <a:avLst/>
          </a:prstGeom>
          <a:solidFill>
            <a:srgbClr val="5E6AD2">
              <a:alpha val="24000"/>
            </a:srgbClr>
          </a:solidFill>
          <a:ln w="12700">
            <a:solidFill>
              <a:srgbClr val="5E6AD2">
                <a:alpha val="2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0" y="256032"/>
            <a:ext cx="64008" cy="64008"/>
          </a:xfrm>
          <a:prstGeom prst="ellipse">
            <a:avLst/>
          </a:prstGeom>
          <a:solidFill>
            <a:srgbClr val="5E6AD2">
              <a:alpha val="24000"/>
            </a:srgbClr>
          </a:solidFill>
          <a:ln w="12700">
            <a:solidFill>
              <a:srgbClr val="5E6AD2">
                <a:alpha val="2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0" y="530352"/>
            <a:ext cx="64008" cy="64008"/>
          </a:xfrm>
          <a:prstGeom prst="ellipse">
            <a:avLst/>
          </a:prstGeom>
          <a:solidFill>
            <a:srgbClr val="5E6AD2">
              <a:alpha val="24000"/>
            </a:srgbClr>
          </a:solidFill>
          <a:ln w="12700">
            <a:solidFill>
              <a:srgbClr val="5E6AD2">
                <a:alpha val="2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0" y="804672"/>
            <a:ext cx="64008" cy="64008"/>
          </a:xfrm>
          <a:prstGeom prst="ellipse">
            <a:avLst/>
          </a:prstGeom>
          <a:solidFill>
            <a:srgbClr val="5E6AD2">
              <a:alpha val="24000"/>
            </a:srgbClr>
          </a:solidFill>
          <a:ln w="12700">
            <a:solidFill>
              <a:srgbClr val="5E6AD2">
                <a:alpha val="2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1078992"/>
            <a:ext cx="64008" cy="64008"/>
          </a:xfrm>
          <a:prstGeom prst="ellipse">
            <a:avLst/>
          </a:prstGeom>
          <a:solidFill>
            <a:srgbClr val="5E6AD2">
              <a:alpha val="24000"/>
            </a:srgbClr>
          </a:solidFill>
          <a:ln w="12700">
            <a:solidFill>
              <a:srgbClr val="5E6AD2">
                <a:alpha val="2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1353312"/>
            <a:ext cx="64008" cy="64008"/>
          </a:xfrm>
          <a:prstGeom prst="ellipse">
            <a:avLst/>
          </a:prstGeom>
          <a:solidFill>
            <a:srgbClr val="5E6AD2">
              <a:alpha val="24000"/>
            </a:srgbClr>
          </a:solidFill>
          <a:ln w="12700">
            <a:solidFill>
              <a:srgbClr val="5E6AD2">
                <a:alpha val="2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03920" y="256032"/>
            <a:ext cx="64008" cy="64008"/>
          </a:xfrm>
          <a:prstGeom prst="ellipse">
            <a:avLst/>
          </a:prstGeom>
          <a:solidFill>
            <a:srgbClr val="5E6AD2">
              <a:alpha val="24000"/>
            </a:srgbClr>
          </a:solidFill>
          <a:ln w="12700">
            <a:solidFill>
              <a:srgbClr val="5E6AD2">
                <a:alpha val="2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03920" y="530352"/>
            <a:ext cx="64008" cy="64008"/>
          </a:xfrm>
          <a:prstGeom prst="ellipse">
            <a:avLst/>
          </a:prstGeom>
          <a:solidFill>
            <a:srgbClr val="5E6AD2">
              <a:alpha val="24000"/>
            </a:srgbClr>
          </a:solidFill>
          <a:ln w="12700">
            <a:solidFill>
              <a:srgbClr val="5E6AD2">
                <a:alpha val="2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03920" y="804672"/>
            <a:ext cx="64008" cy="64008"/>
          </a:xfrm>
          <a:prstGeom prst="ellipse">
            <a:avLst/>
          </a:prstGeom>
          <a:solidFill>
            <a:srgbClr val="5E6AD2">
              <a:alpha val="24000"/>
            </a:srgbClr>
          </a:solidFill>
          <a:ln w="12700">
            <a:solidFill>
              <a:srgbClr val="5E6AD2">
                <a:alpha val="24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03920" y="1078992"/>
            <a:ext cx="64008" cy="64008"/>
          </a:xfrm>
          <a:prstGeom prst="ellipse">
            <a:avLst/>
          </a:prstGeom>
          <a:solidFill>
            <a:srgbClr val="5E6AD2">
              <a:alpha val="24000"/>
            </a:srgbClr>
          </a:solidFill>
          <a:ln w="12700">
            <a:solidFill>
              <a:srgbClr val="5E6AD2">
                <a:alpha val="24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03920" y="1353312"/>
            <a:ext cx="64008" cy="64008"/>
          </a:xfrm>
          <a:prstGeom prst="ellipse">
            <a:avLst/>
          </a:prstGeom>
          <a:solidFill>
            <a:srgbClr val="5E6AD2">
              <a:alpha val="24000"/>
            </a:srgbClr>
          </a:solidFill>
          <a:ln w="12700">
            <a:solidFill>
              <a:srgbClr val="5E6AD2">
                <a:alpha val="24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1417320"/>
            <a:ext cx="45720" cy="2194560"/>
          </a:xfrm>
          <a:prstGeom prst="rect">
            <a:avLst/>
          </a:prstGeom>
          <a:solidFill>
            <a:srgbClr val="5E6AD2"/>
          </a:solidFill>
          <a:ln w="12700">
            <a:solidFill>
              <a:srgbClr val="5E6AD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8368" y="1298448"/>
            <a:ext cx="1874520" cy="329184"/>
          </a:xfrm>
          <a:prstGeom prst="roundRect">
            <a:avLst>
              <a:gd name="adj" fmla="val 50000"/>
            </a:avLst>
          </a:prstGeom>
          <a:solidFill>
            <a:srgbClr val="1C1D24"/>
          </a:solidFill>
          <a:ln w="10160">
            <a:solidFill>
              <a:srgbClr val="5E6AD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" y="129844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20" kern="0" dirty="0">
                <a:solidFill>
                  <a:srgbClr val="5E6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ELECTRON · NOT A PROTOTYPE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58368" y="1664208"/>
            <a:ext cx="8229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Capture</a:t>
            </a:r>
            <a:endParaRPr lang="en-US" sz="6400" dirty="0"/>
          </a:p>
        </p:txBody>
      </p:sp>
      <p:sp>
        <p:nvSpPr>
          <p:cNvPr id="41" name="Text 39"/>
          <p:cNvSpPr/>
          <p:nvPr/>
        </p:nvSpPr>
        <p:spPr>
          <a:xfrm>
            <a:off x="676656" y="279806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9E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desktop voice capture tool — product design case study</a:t>
            </a:r>
            <a:endParaRPr lang="en-US" sz="1550" dirty="0"/>
          </a:p>
        </p:txBody>
      </p:sp>
      <p:sp>
        <p:nvSpPr>
          <p:cNvPr id="42" name="Shape 40"/>
          <p:cNvSpPr/>
          <p:nvPr/>
        </p:nvSpPr>
        <p:spPr>
          <a:xfrm>
            <a:off x="676656" y="3456432"/>
            <a:ext cx="2926080" cy="0"/>
          </a:xfrm>
          <a:prstGeom prst="line">
            <a:avLst/>
          </a:prstGeom>
          <a:noFill/>
          <a:ln w="10160">
            <a:solidFill>
              <a:srgbClr val="3A3B4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" y="362102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Aditi Raghavan  ·  Product Designer  ·  aditiraghav28@gmail.com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50" kern="0" dirty="0">
                <a:solidFill>
                  <a:srgbClr val="5E6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THE USER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521208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founder is never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tasks.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always mid one.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30428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been a founder. The best ideas hit when you're already inside something else — replying to email, writing a Cursor prompt, deep in Slack. The cost of stopping to open a notes app isn't the seconds it takes. It's the thread you drop.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870448" y="502920"/>
            <a:ext cx="2962656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4E6EA"/>
            </a:solidFill>
            <a:prstDash val="solid"/>
          </a:ln>
          <a:effectLst>
            <a:outerShdw sx="100000" sy="100000" kx="0" ky="0" algn="bl" rotWithShape="0" blurRad="2032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870448" y="502920"/>
            <a:ext cx="2962656" cy="45720"/>
          </a:xfrm>
          <a:prstGeom prst="rect">
            <a:avLst/>
          </a:prstGeom>
          <a:solidFill>
            <a:srgbClr val="5E6AD2"/>
          </a:solidFill>
          <a:ln w="12700">
            <a:solidFill>
              <a:srgbClr val="5E6A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0" y="6309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E6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35040" y="905256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Founders, operators — always context-switching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70448" y="2039112"/>
            <a:ext cx="2962656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4E6EA"/>
            </a:solidFill>
            <a:prstDash val="solid"/>
          </a:ln>
          <a:effectLst>
            <a:outerShdw sx="100000" sy="100000" kx="0" ky="0" algn="bl" rotWithShape="0" blurRad="203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70448" y="2039112"/>
            <a:ext cx="2962656" cy="45720"/>
          </a:xfrm>
          <a:prstGeom prst="rect">
            <a:avLst/>
          </a:prstGeom>
          <a:solidFill>
            <a:srgbClr val="5E6AD2"/>
          </a:solidFill>
          <a:ln w="12700">
            <a:solidFill>
              <a:srgbClr val="5E6A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216712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E6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035040" y="2441448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tasks, mid-thought, not at a desk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70448" y="3575304"/>
            <a:ext cx="2962656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E4E6EA"/>
            </a:solidFill>
            <a:prstDash val="solid"/>
          </a:ln>
          <a:effectLst>
            <a:outerShdw sx="100000" sy="100000" kx="0" ky="0" algn="bl" rotWithShape="0" blurRad="2032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70448" y="3575304"/>
            <a:ext cx="2962656" cy="45720"/>
          </a:xfrm>
          <a:prstGeom prst="rect">
            <a:avLst/>
          </a:prstGeom>
          <a:solidFill>
            <a:srgbClr val="5E6AD2"/>
          </a:solidFill>
          <a:ln w="12700">
            <a:solidFill>
              <a:srgbClr val="5E6A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37033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E6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PAIN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35040" y="3977640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another app breaks the flow entirely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401568"/>
            <a:ext cx="5074920" cy="1417320"/>
          </a:xfrm>
          <a:prstGeom prst="rect">
            <a:avLst/>
          </a:prstGeom>
          <a:solidFill>
            <a:srgbClr val="0F1014"/>
          </a:solidFill>
          <a:ln w="10160">
            <a:solidFill>
              <a:srgbClr val="2E2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51129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E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THIS PRODUCT LIVES IN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713232" y="3749040"/>
            <a:ext cx="4663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 Cursor prompt and a better version of it surfaces in your head. You have about 4 seconds before it's gone.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50" kern="0" dirty="0">
                <a:solidFill>
                  <a:srgbClr val="5E6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THE GAP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existing tool asks you to go somewhere.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408176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tested Whisper Flow as a reference. The transcription was useful. The experience wasn't. It still felt like a place — another tab, another window, another context. The problem isn't the technology. It's the model.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12848"/>
            <a:ext cx="8275320" cy="329184"/>
          </a:xfrm>
          <a:prstGeom prst="rect">
            <a:avLst/>
          </a:prstGeom>
          <a:solidFill>
            <a:srgbClr val="0F1014"/>
          </a:solidFill>
          <a:ln w="12700">
            <a:solidFill>
              <a:srgbClr val="0F10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24942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9E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90672" y="224942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9E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16752" y="224942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9E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BREAKS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2578608"/>
            <a:ext cx="8275320" cy="530352"/>
          </a:xfrm>
          <a:prstGeom prst="rect">
            <a:avLst/>
          </a:prstGeom>
          <a:solidFill>
            <a:srgbClr val="F7F8FA"/>
          </a:solidFill>
          <a:ln w="7620">
            <a:solidFill>
              <a:srgbClr val="E4E6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6700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Voice Memos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090672" y="26700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 → record → transcribe later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016752" y="26700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separate moments, not one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145536"/>
            <a:ext cx="827532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E4E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23697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Flow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090672" y="323697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recording window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16752" y="323697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a new context to enter and exit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712464"/>
            <a:ext cx="8275320" cy="530352"/>
          </a:xfrm>
          <a:prstGeom prst="rect">
            <a:avLst/>
          </a:prstGeom>
          <a:solidFill>
            <a:srgbClr val="F7F8FA"/>
          </a:solidFill>
          <a:ln w="7620">
            <a:solidFill>
              <a:srgbClr val="E4E6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803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/ Docs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090672" y="3803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document → record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016752" y="3803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knowing where the thought belongs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279392"/>
            <a:ext cx="8275320" cy="530352"/>
          </a:xfrm>
          <a:prstGeom prst="rect">
            <a:avLst/>
          </a:prstGeom>
          <a:solidFill>
            <a:srgbClr val="EEF0FB"/>
          </a:solidFill>
          <a:ln w="7620">
            <a:solidFill>
              <a:srgbClr val="E4E6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279392"/>
            <a:ext cx="45720" cy="530352"/>
          </a:xfrm>
          <a:prstGeom prst="rect">
            <a:avLst/>
          </a:prstGeom>
          <a:solidFill>
            <a:srgbClr val="5E6AD2"/>
          </a:solidFill>
          <a:ln w="12700">
            <a:solidFill>
              <a:srgbClr val="5E6A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43708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6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Capture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90672" y="43708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 on screen → hold → release → copy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16752" y="43708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6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50" kern="0" dirty="0">
                <a:solidFill>
                  <a:srgbClr val="5E6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THE DESIGN PRINCIPLE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7498080" y="3474720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749040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4023360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4297680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4572000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3474720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3749040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4023360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0" y="4297680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4572000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3474720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3749040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4023360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4297680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4572000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3474720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3749040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4023360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21040" y="4297680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1040" y="4572000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95360" y="3474720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95360" y="3749040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95360" y="4023360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95360" y="4297680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0" y="4572000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58368"/>
            <a:ext cx="8229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Summon.</a:t>
            </a:r>
            <a:endParaRPr lang="en-US" sz="7200" dirty="0"/>
          </a:p>
        </p:txBody>
      </p:sp>
      <p:sp>
        <p:nvSpPr>
          <p:cNvPr id="29" name="Text 27"/>
          <p:cNvSpPr/>
          <p:nvPr/>
        </p:nvSpPr>
        <p:spPr>
          <a:xfrm>
            <a:off x="548640" y="1572768"/>
            <a:ext cx="8229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E6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Speak.</a:t>
            </a:r>
            <a:endParaRPr lang="en-US" sz="7200" dirty="0"/>
          </a:p>
        </p:txBody>
      </p:sp>
      <p:sp>
        <p:nvSpPr>
          <p:cNvPr id="30" name="Text 28"/>
          <p:cNvSpPr/>
          <p:nvPr/>
        </p:nvSpPr>
        <p:spPr>
          <a:xfrm>
            <a:off x="548640" y="2487168"/>
            <a:ext cx="8229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9E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Vanish.</a:t>
            </a:r>
            <a:endParaRPr lang="en-US" sz="7200" dirty="0"/>
          </a:p>
        </p:txBody>
      </p:sp>
      <p:sp>
        <p:nvSpPr>
          <p:cNvPr id="31" name="Text 29"/>
          <p:cNvSpPr/>
          <p:nvPr/>
        </p:nvSpPr>
        <p:spPr>
          <a:xfrm>
            <a:off x="548640" y="365760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Spotlight, but for thought capture. The app appears when needed, does its job without asking anything extra, and disappears — leaving zero cognitive residue. Every sizing, animation, and interaction decision was filtered through this principle.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50" kern="0" dirty="0">
                <a:solidFill>
                  <a:srgbClr val="5E6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THE PRODUCT FLOW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surface. Three moments.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product lives in a single floating element that morphs. No windows to manage, no apps to switch. The pill is always there and always temporary.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810512"/>
            <a:ext cx="2697480" cy="2999232"/>
          </a:xfrm>
          <a:prstGeom prst="rect">
            <a:avLst/>
          </a:prstGeom>
          <a:solidFill>
            <a:srgbClr val="F7F8FA"/>
          </a:solidFill>
          <a:ln w="10160">
            <a:solidFill>
              <a:srgbClr val="E4E6EA"/>
            </a:solidFill>
            <a:prstDash val="solid"/>
          </a:ln>
          <a:effectLst>
            <a:outerShdw sx="100000" sy="100000" kx="0" ky="0" algn="bl" rotWithShape="0" blurRad="2032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810512"/>
            <a:ext cx="2697480" cy="457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9385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60704" y="193852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13232" y="221284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E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 × 38px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170432" y="2633472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0F1014"/>
          </a:solidFill>
          <a:ln w="10160">
            <a:solidFill>
              <a:srgbClr val="2E2F3A"/>
            </a:solidFill>
            <a:prstDash val="solid"/>
          </a:ln>
          <a:effectLst>
            <a:outerShdw sx="100000" sy="100000" kx="0" ky="0" algn="bl" rotWithShape="0" blurRad="2032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71600" y="2798064"/>
            <a:ext cx="347472" cy="6400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2898648"/>
            <a:ext cx="228600" cy="6400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65376" y="2761488"/>
            <a:ext cx="0" cy="310896"/>
          </a:xfrm>
          <a:prstGeom prst="line">
            <a:avLst/>
          </a:prstGeom>
          <a:noFill/>
          <a:ln w="10160">
            <a:solidFill>
              <a:srgbClr val="3A3B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66544" y="2816352"/>
            <a:ext cx="128016" cy="12801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4297680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 lives at top of screen. Always visible, never in the way.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82696" y="3291840"/>
            <a:ext cx="182880" cy="0"/>
          </a:xfrm>
          <a:prstGeom prst="line">
            <a:avLst/>
          </a:prstGeom>
          <a:noFill/>
          <a:ln w="15240">
            <a:solidFill>
              <a:srgbClr val="9EA5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65576" y="320040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E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419856" y="1810512"/>
            <a:ext cx="2697480" cy="2999232"/>
          </a:xfrm>
          <a:prstGeom prst="rect">
            <a:avLst/>
          </a:prstGeom>
          <a:solidFill>
            <a:srgbClr val="F7F8FA"/>
          </a:solidFill>
          <a:ln w="10160">
            <a:solidFill>
              <a:srgbClr val="E4E6EA"/>
            </a:solidFill>
            <a:prstDash val="solid"/>
          </a:ln>
          <a:effectLst>
            <a:outerShdw sx="100000" sy="100000" kx="0" ky="0" algn="bl" rotWithShape="0" blurRad="2032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19856" y="1810512"/>
            <a:ext cx="2697480" cy="45720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02736" y="19385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950208" y="193852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02736" y="221284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E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× 52px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475988" y="2615184"/>
            <a:ext cx="585216" cy="585216"/>
          </a:xfrm>
          <a:prstGeom prst="ellipse">
            <a:avLst/>
          </a:prstGeom>
          <a:solidFill>
            <a:srgbClr val="0F1014"/>
          </a:solidFill>
          <a:ln w="15240">
            <a:solidFill>
              <a:srgbClr val="E5484D"/>
            </a:solidFill>
            <a:prstDash val="solid"/>
          </a:ln>
          <a:effectLst>
            <a:outerShdw sx="100000" sy="100000" kx="0" ky="0" algn="bl" rotWithShape="0" blurRad="2032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77156" y="2816352"/>
            <a:ext cx="182880" cy="18288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1708" y="3351276"/>
            <a:ext cx="54864" cy="64008"/>
          </a:xfrm>
          <a:prstGeom prst="roundRect">
            <a:avLst>
              <a:gd name="adj" fmla="val 50000"/>
            </a:avLst>
          </a:prstGeom>
          <a:solidFill>
            <a:srgbClr val="E5484D">
              <a:alpha val="60000"/>
            </a:srgbClr>
          </a:solidFill>
          <a:ln w="12700">
            <a:solidFill>
              <a:srgbClr val="E5484D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31436" y="3300984"/>
            <a:ext cx="54864" cy="164592"/>
          </a:xfrm>
          <a:prstGeom prst="roundRect">
            <a:avLst>
              <a:gd name="adj" fmla="val 50000"/>
            </a:avLst>
          </a:prstGeom>
          <a:solidFill>
            <a:srgbClr val="E5484D">
              <a:alpha val="60000"/>
            </a:srgbClr>
          </a:solidFill>
          <a:ln w="12700">
            <a:solidFill>
              <a:srgbClr val="E5484D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1164" y="3255264"/>
            <a:ext cx="54864" cy="256032"/>
          </a:xfrm>
          <a:prstGeom prst="roundRect">
            <a:avLst>
              <a:gd name="adj" fmla="val 50000"/>
            </a:avLst>
          </a:prstGeom>
          <a:solidFill>
            <a:srgbClr val="E5484D">
              <a:alpha val="60000"/>
            </a:srgbClr>
          </a:solidFill>
          <a:ln w="12700">
            <a:solidFill>
              <a:srgbClr val="E5484D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50892" y="3300984"/>
            <a:ext cx="54864" cy="164592"/>
          </a:xfrm>
          <a:prstGeom prst="roundRect">
            <a:avLst>
              <a:gd name="adj" fmla="val 50000"/>
            </a:avLst>
          </a:prstGeom>
          <a:solidFill>
            <a:srgbClr val="E5484D">
              <a:alpha val="60000"/>
            </a:srgbClr>
          </a:solidFill>
          <a:ln w="12700">
            <a:solidFill>
              <a:srgbClr val="E5484D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60620" y="3351276"/>
            <a:ext cx="54864" cy="64008"/>
          </a:xfrm>
          <a:prstGeom prst="roundRect">
            <a:avLst>
              <a:gd name="adj" fmla="val 50000"/>
            </a:avLst>
          </a:prstGeom>
          <a:solidFill>
            <a:srgbClr val="E5484D">
              <a:alpha val="60000"/>
            </a:srgbClr>
          </a:solidFill>
          <a:ln w="12700">
            <a:solidFill>
              <a:srgbClr val="E5484D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02736" y="4297680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Collapses to a circle. Nothing to read. Just speak.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72200" y="3291840"/>
            <a:ext cx="182880" cy="0"/>
          </a:xfrm>
          <a:prstGeom prst="line">
            <a:avLst/>
          </a:prstGeom>
          <a:noFill/>
          <a:ln w="15240">
            <a:solidFill>
              <a:srgbClr val="9EA5B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3200400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E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309360" y="1810512"/>
            <a:ext cx="2697480" cy="2999232"/>
          </a:xfrm>
          <a:prstGeom prst="rect">
            <a:avLst/>
          </a:prstGeom>
          <a:solidFill>
            <a:srgbClr val="F7F8FA"/>
          </a:solidFill>
          <a:ln w="10160">
            <a:solidFill>
              <a:srgbClr val="E4E6EA"/>
            </a:solidFill>
            <a:prstDash val="solid"/>
          </a:ln>
          <a:effectLst>
            <a:outerShdw sx="100000" sy="100000" kx="0" ky="0" algn="bl" rotWithShape="0" blurRad="203200" dist="25400" dir="81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09360" y="1810512"/>
            <a:ext cx="2697480" cy="45720"/>
          </a:xfrm>
          <a:prstGeom prst="rect">
            <a:avLst/>
          </a:prstGeom>
          <a:solidFill>
            <a:srgbClr val="5E6AD2"/>
          </a:solidFill>
          <a:ln w="12700">
            <a:solidFill>
              <a:srgbClr val="5E6AD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19385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6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39712" y="193852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E6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92240" y="221284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E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× 400px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473952" y="2523744"/>
            <a:ext cx="2359152" cy="1572768"/>
          </a:xfrm>
          <a:prstGeom prst="rect">
            <a:avLst/>
          </a:prstGeom>
          <a:solidFill>
            <a:srgbClr val="FFFFFF"/>
          </a:solidFill>
          <a:ln w="10160">
            <a:solidFill>
              <a:srgbClr val="E4E6EA"/>
            </a:solidFill>
            <a:prstDash val="solid"/>
          </a:ln>
          <a:effectLst>
            <a:outerShdw sx="100000" sy="100000" kx="0" ky="0" algn="bl" rotWithShape="0" blurRad="304800" dist="508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601968" y="2688336"/>
            <a:ext cx="1993392" cy="73152"/>
          </a:xfrm>
          <a:prstGeom prst="rect">
            <a:avLst/>
          </a:prstGeom>
          <a:solidFill>
            <a:srgbClr val="E4E6EA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01968" y="2889504"/>
            <a:ext cx="1993392" cy="73152"/>
          </a:xfrm>
          <a:prstGeom prst="rect">
            <a:avLst/>
          </a:prstGeom>
          <a:solidFill>
            <a:srgbClr val="E4E6EA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01968" y="3090672"/>
            <a:ext cx="1993392" cy="73152"/>
          </a:xfrm>
          <a:prstGeom prst="rect">
            <a:avLst/>
          </a:prstGeom>
          <a:solidFill>
            <a:srgbClr val="E4E6EA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01968" y="3291840"/>
            <a:ext cx="1005840" cy="73152"/>
          </a:xfrm>
          <a:prstGeom prst="rect">
            <a:avLst/>
          </a:prstGeom>
          <a:solidFill>
            <a:srgbClr val="E4E6EA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01968" y="3227832"/>
            <a:ext cx="1188720" cy="7315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01968" y="3803904"/>
            <a:ext cx="804672" cy="219456"/>
          </a:xfrm>
          <a:prstGeom prst="roundRect">
            <a:avLst>
              <a:gd name="adj" fmla="val 20833"/>
            </a:avLst>
          </a:prstGeom>
          <a:solidFill>
            <a:srgbClr val="5E6AD2"/>
          </a:solidFill>
          <a:ln w="12700">
            <a:solidFill>
              <a:srgbClr val="5E6AD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01968" y="3803904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492240" y="4297680"/>
            <a:ext cx="23408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Expands with AI-edited text. Review, accept changes, copy.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30352" y="4681728"/>
            <a:ext cx="8284464" cy="347472"/>
          </a:xfrm>
          <a:prstGeom prst="rect">
            <a:avLst/>
          </a:prstGeom>
          <a:solidFill>
            <a:srgbClr val="0F1014"/>
          </a:solidFill>
          <a:ln w="12700">
            <a:solidFill>
              <a:srgbClr val="0F101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4944" y="4700016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E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note: the pill morphs using spring physics (cubic-bezier 0.32, 0.72, 0, 1) — not a linear resize. The animation signals a living surface, not a dialog box snapping open.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50" kern="0" dirty="0">
                <a:solidFill>
                  <a:srgbClr val="5E6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DESIGN DECISION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 tiny desktop anchor.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30352" y="1481328"/>
            <a:ext cx="2688336" cy="3337560"/>
          </a:xfrm>
          <a:prstGeom prst="rect">
            <a:avLst/>
          </a:prstGeom>
          <a:solidFill>
            <a:srgbClr val="F7F8FA"/>
          </a:solidFill>
          <a:ln w="10160">
            <a:solidFill>
              <a:srgbClr val="E4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1481328"/>
            <a:ext cx="2688336" cy="45720"/>
          </a:xfrm>
          <a:prstGeom prst="rect">
            <a:avLst/>
          </a:prstGeom>
          <a:solidFill>
            <a:srgbClr val="5E6AD2"/>
          </a:solidFill>
          <a:ln w="12700">
            <a:solidFill>
              <a:srgbClr val="5E6A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591056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E6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13232" y="1920240"/>
            <a:ext cx="235915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floating pill that lives at the top of the screen — always visible, never intrusive — that expands in-place rather than opening a new window.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9856" y="1481328"/>
            <a:ext cx="2688336" cy="3337560"/>
          </a:xfrm>
          <a:prstGeom prst="rect">
            <a:avLst/>
          </a:prstGeom>
          <a:solidFill>
            <a:srgbClr val="F7F8FA"/>
          </a:solidFill>
          <a:ln w="10160">
            <a:solidFill>
              <a:srgbClr val="E4E6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9856" y="1481328"/>
            <a:ext cx="2688336" cy="45720"/>
          </a:xfrm>
          <a:prstGeom prst="rect">
            <a:avLst/>
          </a:prstGeom>
          <a:solidFill>
            <a:srgbClr val="30A46C"/>
          </a:solidFill>
          <a:ln w="12700">
            <a:solidFill>
              <a:srgbClr val="30A4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02736" y="1591056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RATIONALE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02736" y="1920240"/>
            <a:ext cx="235915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window requires the user to navigate there. A keyboard shortcut requires memory. A visible pill can be seen peripherally and activated instantly.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Dynamic Island and Spotlight: the interface lives at the edge of attention until it's needed.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481328"/>
            <a:ext cx="2688336" cy="3337560"/>
          </a:xfrm>
          <a:prstGeom prst="rect">
            <a:avLst/>
          </a:prstGeom>
          <a:solidFill>
            <a:srgbClr val="F7F8FA"/>
          </a:solidFill>
          <a:ln w="10160">
            <a:solidFill>
              <a:srgbClr val="E4E6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481328"/>
            <a:ext cx="2688336" cy="45720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591056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TRADEOFF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92240" y="1920240"/>
            <a:ext cx="235915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Discoverability suffers. A new user may not know the pill is interactive, or that holding vs. tapping does different things.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a one-time pulse ring on the mic icon + a 4-second whisper hint ("Hold · speak · release") that fades on first interaction. Never shows again.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50" kern="0" dirty="0">
                <a:solidFill>
                  <a:srgbClr val="5E6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DESIGN DECISION 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every AI edit. Don't hide the work.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always makes mistakes. The question is: does the AI silently fix them, or show you what changed? I chose transparency — and it changed the whole character of the output panel.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267712"/>
            <a:ext cx="4114800" cy="1901952"/>
          </a:xfrm>
          <a:prstGeom prst="rect">
            <a:avLst/>
          </a:prstGeom>
          <a:solidFill>
            <a:srgbClr val="F7F8FA"/>
          </a:solidFill>
          <a:ln w="10160">
            <a:solidFill>
              <a:srgbClr val="E4E6EA"/>
            </a:solidFill>
            <a:prstDash val="solid"/>
          </a:ln>
          <a:effectLst>
            <a:outerShdw sx="100000" sy="100000" kx="0" ky="0" algn="bl" rotWithShape="0" blurRad="3048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267712"/>
            <a:ext cx="4114800" cy="45720"/>
          </a:xfrm>
          <a:prstGeom prst="rect">
            <a:avLst/>
          </a:prstGeom>
          <a:solidFill>
            <a:srgbClr val="5E6AD2"/>
          </a:solidFill>
          <a:ln w="12700">
            <a:solidFill>
              <a:srgbClr val="5E6A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3774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9E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SUGGESTIONS IN-LINE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13232" y="265176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with </a:t>
            </a:r>
            <a:pPr indent="0" marL="0">
              <a:buNone/>
            </a:pPr>
            <a:r>
              <a:rPr lang="en-US" sz="1300" dirty="0">
                <a:solidFill>
                  <a:srgbClr val="BCB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</a:t>
            </a:r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</a:t>
            </a:r>
            <a:pPr indent="0" marL="0">
              <a:buNone/>
            </a:pPr>
            <a:r>
              <a:rPr lang="en-US" sz="1300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to discuss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305409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300" dirty="0">
                <a:solidFill>
                  <a:srgbClr val="BCB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</a:t>
            </a:r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</a:t>
            </a:r>
            <a:pPr indent="0" marL="0">
              <a:buNone/>
            </a:pPr>
            <a:r>
              <a:rPr lang="en-US" sz="1300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and pricing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3232" y="3547872"/>
            <a:ext cx="3749040" cy="512064"/>
          </a:xfrm>
          <a:prstGeom prst="rect">
            <a:avLst/>
          </a:prstGeom>
          <a:solidFill>
            <a:srgbClr val="FFFFFF"/>
          </a:solidFill>
          <a:ln w="7620">
            <a:solidFill>
              <a:srgbClr val="E4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62102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CB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</a:t>
            </a:r>
            <a:pPr indent="0" marL="0">
              <a:buNone/>
            </a:pPr>
            <a:r>
              <a:rPr lang="en-US" sz="1050" dirty="0">
                <a:solidFill>
                  <a:srgbClr val="9E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removed    </a:t>
            </a:r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</a:t>
            </a:r>
            <a:pPr indent="0" marL="0">
              <a:buNone/>
            </a:pPr>
            <a:r>
              <a:rPr lang="en-US" sz="1050" i="1" dirty="0">
                <a:solidFill>
                  <a:srgbClr val="9E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AI suggestion    click to accept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10912" y="1371600"/>
            <a:ext cx="3822192" cy="1170432"/>
          </a:xfrm>
          <a:prstGeom prst="rect">
            <a:avLst/>
          </a:prstGeom>
          <a:solidFill>
            <a:srgbClr val="F7F8FA"/>
          </a:solidFill>
          <a:ln w="10160">
            <a:solidFill>
              <a:srgbClr val="E4E6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10912" y="1371600"/>
            <a:ext cx="3822192" cy="45720"/>
          </a:xfrm>
          <a:prstGeom prst="rect">
            <a:avLst/>
          </a:prstGeom>
          <a:solidFill>
            <a:srgbClr val="5E6AD2"/>
          </a:solidFill>
          <a:ln w="12700">
            <a:solidFill>
              <a:srgbClr val="5E6A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75504" y="149047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auto-apply?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175504" y="1773936"/>
            <a:ext cx="34930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fails most on names, numbers, and proper nouns — exactly where mistakes matter most. Silent fixes erode trust. Users must see what changed so they can catch the errors that cost them.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10912" y="2633472"/>
            <a:ext cx="3822192" cy="1170432"/>
          </a:xfrm>
          <a:prstGeom prst="rect">
            <a:avLst/>
          </a:prstGeom>
          <a:solidFill>
            <a:srgbClr val="F7F8FA"/>
          </a:solidFill>
          <a:ln w="10160">
            <a:solidFill>
              <a:srgbClr val="E4E6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10912" y="2633472"/>
            <a:ext cx="3822192" cy="45720"/>
          </a:xfrm>
          <a:prstGeom prst="rect">
            <a:avLst/>
          </a:prstGeom>
          <a:solidFill>
            <a:srgbClr val="5E6AD2"/>
          </a:solidFill>
          <a:ln w="12700">
            <a:solidFill>
              <a:srgbClr val="5E6A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75504" y="2752344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a separate review step?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175504" y="3035808"/>
            <a:ext cx="34930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 step creates a new decision moment at the worst time. Inline diffs let users correct as they read — the review is baked into the reading.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10912" y="3895344"/>
            <a:ext cx="3822192" cy="1170432"/>
          </a:xfrm>
          <a:prstGeom prst="rect">
            <a:avLst/>
          </a:prstGeom>
          <a:solidFill>
            <a:srgbClr val="F7F8FA"/>
          </a:solidFill>
          <a:ln w="10160">
            <a:solidFill>
              <a:srgbClr val="E4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10912" y="3895344"/>
            <a:ext cx="3822192" cy="45720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75504" y="4014216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tradeoff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175504" y="4297680"/>
            <a:ext cx="34930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noise for short, clean transcripts. Accepted. Accuracy matters more than aesthetics here, and the noise scales with how bad the transcription was — not arbitrarily.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50" kern="0" dirty="0">
                <a:solidFill>
                  <a:srgbClr val="5E6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DESIGN DECISION 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 place to land until you're ready.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often speak before they know where a thought belongs. A rough idea might become a Cursor prompt, a Slack message, or an email. History gives it somewhere to live until the user is ready to use 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291840" cy="2724912"/>
          </a:xfrm>
          <a:prstGeom prst="rect">
            <a:avLst/>
          </a:prstGeom>
          <a:solidFill>
            <a:srgbClr val="F7F8FA"/>
          </a:solidFill>
          <a:ln w="10160">
            <a:solidFill>
              <a:srgbClr val="E4E6EA"/>
            </a:solidFill>
            <a:prstDash val="solid"/>
          </a:ln>
          <a:effectLst>
            <a:outerShdw sx="100000" sy="100000" kx="0" ky="0" algn="bl" rotWithShape="0" blurRad="3048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03120"/>
            <a:ext cx="3291840" cy="45720"/>
          </a:xfrm>
          <a:prstGeom prst="rect">
            <a:avLst/>
          </a:prstGeom>
          <a:solidFill>
            <a:srgbClr val="5E6AD2"/>
          </a:solidFill>
          <a:ln w="12700">
            <a:solidFill>
              <a:srgbClr val="5E6A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2128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9E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13232" y="24871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E6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13232" y="2715768"/>
            <a:ext cx="2194560" cy="155448"/>
          </a:xfrm>
          <a:prstGeom prst="roundRect">
            <a:avLst>
              <a:gd name="adj" fmla="val 23529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916936"/>
            <a:ext cx="1508760" cy="155448"/>
          </a:xfrm>
          <a:prstGeom prst="roundRect">
            <a:avLst>
              <a:gd name="adj" fmla="val 23529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2095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E6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13232" y="3438144"/>
            <a:ext cx="1828800" cy="155448"/>
          </a:xfrm>
          <a:prstGeom prst="roundRect">
            <a:avLst>
              <a:gd name="adj" fmla="val 23529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7307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E6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13232" y="3959352"/>
            <a:ext cx="2011680" cy="155448"/>
          </a:xfrm>
          <a:prstGeom prst="roundRect">
            <a:avLst>
              <a:gd name="adj" fmla="val 23529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4160520"/>
            <a:ext cx="1325880" cy="155448"/>
          </a:xfrm>
          <a:prstGeom prst="roundRect">
            <a:avLst>
              <a:gd name="adj" fmla="val 23529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4361688"/>
            <a:ext cx="1645920" cy="155448"/>
          </a:xfrm>
          <a:prstGeom prst="roundRect">
            <a:avLst>
              <a:gd name="adj" fmla="val 23529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6240" y="2084832"/>
            <a:ext cx="4626864" cy="859536"/>
          </a:xfrm>
          <a:prstGeom prst="rect">
            <a:avLst/>
          </a:prstGeom>
          <a:solidFill>
            <a:srgbClr val="F7F8FA"/>
          </a:solidFill>
          <a:ln w="10160">
            <a:solidFill>
              <a:srgbClr val="E4E6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06240" y="2084832"/>
            <a:ext cx="4626864" cy="45720"/>
          </a:xfrm>
          <a:prstGeom prst="rect">
            <a:avLst/>
          </a:prstGeom>
          <a:solidFill>
            <a:srgbClr val="5E6AD2"/>
          </a:solidFill>
          <a:ln w="12700">
            <a:solidFill>
              <a:srgbClr val="5E6A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70832" y="21945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time buckets, not folders?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370832" y="246888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don't organize proactively. They retrieve by recency: "I captured something this morning." Folders require a categorization decision at capture time — exactly when you least want to think.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06240" y="3017520"/>
            <a:ext cx="4626864" cy="859536"/>
          </a:xfrm>
          <a:prstGeom prst="rect">
            <a:avLst/>
          </a:prstGeom>
          <a:solidFill>
            <a:srgbClr val="F7F8FA"/>
          </a:solidFill>
          <a:ln w="10160">
            <a:solidFill>
              <a:srgbClr val="E4E6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0" y="3017520"/>
            <a:ext cx="4626864" cy="45720"/>
          </a:xfrm>
          <a:prstGeom prst="rect">
            <a:avLst/>
          </a:prstGeom>
          <a:solidFill>
            <a:srgbClr val="5E6AD2"/>
          </a:solidFill>
          <a:ln w="12700">
            <a:solidFill>
              <a:srgbClr val="5E6A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312724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persist at all?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370832" y="3401568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and action are rarely the same moment. History bridges them. You speak the thought now; you use it in Cursor or email later. Without history, the tool is a napkin — useful once.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06240" y="3950208"/>
            <a:ext cx="4626864" cy="859536"/>
          </a:xfrm>
          <a:prstGeom prst="rect">
            <a:avLst/>
          </a:prstGeom>
          <a:solidFill>
            <a:srgbClr val="F7F8FA"/>
          </a:solidFill>
          <a:ln w="10160">
            <a:solidFill>
              <a:srgbClr val="E4E6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06240" y="3950208"/>
            <a:ext cx="4626864" cy="45720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70832" y="405993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tradeoff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370832" y="4334256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buckets don't scale past ~50 captures. At that volume, users need search and filter. V1 optimizes for the first month of use. V2 adds keyword search.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50" kern="0" dirty="0">
                <a:solidFill>
                  <a:srgbClr val="5E6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SCOPE IS A DESIGN DECISION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left out, and why.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30352" y="1481328"/>
            <a:ext cx="2688336" cy="3364992"/>
          </a:xfrm>
          <a:prstGeom prst="rect">
            <a:avLst/>
          </a:prstGeom>
          <a:solidFill>
            <a:srgbClr val="FFFFFF"/>
          </a:solidFill>
          <a:ln w="10160">
            <a:solidFill>
              <a:srgbClr val="E4E6EA"/>
            </a:solidFill>
            <a:prstDash val="solid"/>
          </a:ln>
          <a:effectLst>
            <a:outerShdw sx="100000" sy="100000" kx="0" ky="0" algn="bl" rotWithShape="0" blurRad="203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481328"/>
            <a:ext cx="2688336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591056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DESIGNED, NOT BUILT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13232" y="1883664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First-run onboarding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395728"/>
            <a:ext cx="235915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user has no signal the pill is interactive. The fix: a one-time pulse animation on the mic icon + a 4-second hint text ("Hold · speak · release") that fades on first use.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modal. No tutorial. A whisper, not a welcome screen. Left out to preserve time for core interaction quality.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19856" y="1481328"/>
            <a:ext cx="2688336" cy="3364992"/>
          </a:xfrm>
          <a:prstGeom prst="rect">
            <a:avLst/>
          </a:prstGeom>
          <a:solidFill>
            <a:srgbClr val="FFFFFF"/>
          </a:solidFill>
          <a:ln w="10160">
            <a:solidFill>
              <a:srgbClr val="E4E6EA"/>
            </a:solidFill>
            <a:prstDash val="solid"/>
          </a:ln>
          <a:effectLst>
            <a:outerShdw sx="100000" sy="100000" kx="0" ky="0" algn="bl" rotWithShape="0" blurRad="203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19856" y="1481328"/>
            <a:ext cx="2688336" cy="45720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02736" y="1591056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DOCUMENTED, NOT BUILT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602736" y="1883664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states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02736" y="2395728"/>
            <a:ext cx="235915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 permission denied. Silent recording. AI processing failure. Each needs a distinct, low-friction recovery path.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out deliberately: designing these without real usage telemetry would be guessing. They should be shaped by actual failure data.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481328"/>
            <a:ext cx="2688336" cy="3364992"/>
          </a:xfrm>
          <a:prstGeom prst="rect">
            <a:avLst/>
          </a:prstGeom>
          <a:solidFill>
            <a:srgbClr val="FFFFFF"/>
          </a:solidFill>
          <a:ln w="10160">
            <a:solidFill>
              <a:srgbClr val="E4E6EA"/>
            </a:solidFill>
            <a:prstDash val="solid"/>
          </a:ln>
          <a:effectLst>
            <a:outerShdw sx="100000" sy="100000" kx="0" ky="0" algn="bl" rotWithShape="0" blurRad="2032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481328"/>
            <a:ext cx="2688336" cy="45720"/>
          </a:xfrm>
          <a:prstGeom prst="rect">
            <a:avLst/>
          </a:prstGeom>
          <a:solidFill>
            <a:srgbClr val="9EA5B4"/>
          </a:solidFill>
          <a:ln w="12700">
            <a:solidFill>
              <a:srgbClr val="9EA5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591056"/>
            <a:ext cx="2359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9E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EXCLUDED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492240" y="1883664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&amp; export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2395728"/>
            <a:ext cx="235915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is personal capture, not team coordination. Adding sharing creates a product identity problem — this tool is for you, not your team.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Copy-to-clipboard is v1.1 once the core loop is validated. Sharing is v2 if the data shows people want it.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50" kern="0" dirty="0">
                <a:solidFill>
                  <a:srgbClr val="5E6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WHAT'S NEXT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this shipped tomorrow,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v1.1.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30352" y="2011680"/>
            <a:ext cx="4005072" cy="1316736"/>
          </a:xfrm>
          <a:prstGeom prst="rect">
            <a:avLst/>
          </a:prstGeom>
          <a:solidFill>
            <a:srgbClr val="1C1D24"/>
          </a:solidFill>
          <a:ln w="10160">
            <a:solidFill>
              <a:srgbClr val="2E2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13969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73552" y="21396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50" kern="0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13232" y="239572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keyboard shortcut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" y="2688336"/>
            <a:ext cx="3639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users shouldn't reach for the mouse. ⌘⇧Space summons the pill from anywhere — puts Quick Capture on par with Spotlight.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2011680"/>
            <a:ext cx="4005072" cy="1316736"/>
          </a:xfrm>
          <a:prstGeom prst="rect">
            <a:avLst/>
          </a:prstGeom>
          <a:solidFill>
            <a:srgbClr val="1C1D24"/>
          </a:solidFill>
          <a:ln w="10160">
            <a:solidFill>
              <a:srgbClr val="2E2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213969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589520" y="21396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50" kern="0" dirty="0">
                <a:solidFill>
                  <a:srgbClr val="30A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029200" y="239572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copy to clipboard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0" y="2688336"/>
            <a:ext cx="3639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frequent next action after capture is pasting into Cursor, email, or Slack. Should be a single keystroke, always.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0352" y="3456432"/>
            <a:ext cx="4005072" cy="1316736"/>
          </a:xfrm>
          <a:prstGeom prst="rect">
            <a:avLst/>
          </a:prstGeom>
          <a:solidFill>
            <a:srgbClr val="1C1D24"/>
          </a:solidFill>
          <a:ln w="10160">
            <a:solidFill>
              <a:srgbClr val="2E2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58444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73552" y="35844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13232" y="384048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search + filter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13232" y="4133088"/>
            <a:ext cx="3639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buckets stop working at ~50 captures. Keyword search unlocks the archive without adding folder overhead at capture time.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3456432"/>
            <a:ext cx="4005072" cy="1316736"/>
          </a:xfrm>
          <a:prstGeom prst="rect">
            <a:avLst/>
          </a:prstGeom>
          <a:solidFill>
            <a:srgbClr val="1C1D24"/>
          </a:solidFill>
          <a:ln w="10160">
            <a:solidFill>
              <a:srgbClr val="2E2F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358444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589520" y="35844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29200" y="384048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presets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0" y="4133088"/>
            <a:ext cx="3639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"Format as checklist." "Format as email." Different captures need different outputs. Let users define what AI formatting means for their workflow.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5603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53035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0467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7899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5331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25603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53035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80467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07899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35331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5603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53035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80467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107899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135331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" y="25603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43000" y="53035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3000" y="80467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43000" y="107899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3000" y="135331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17320" y="25603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17320" y="53035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17320" y="80467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17320" y="107899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17320" y="135331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91640" y="25603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91640" y="53035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91640" y="80467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91640" y="107899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91640" y="135331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65960" y="25603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65960" y="53035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65960" y="80467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65960" y="107899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65960" y="135331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40280" y="25603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40280" y="53035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40280" y="80467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40280" y="107899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40280" y="135331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14600" y="25603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14600" y="53035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14600" y="80467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514600" y="107899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14600" y="135331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88920" y="25603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88920" y="53035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88920" y="80467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788920" y="107899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88920" y="1353312"/>
            <a:ext cx="64008" cy="64008"/>
          </a:xfrm>
          <a:prstGeom prst="ellipse">
            <a:avLst/>
          </a:prstGeom>
          <a:solidFill>
            <a:srgbClr val="5E6AD2">
              <a:alpha val="20000"/>
            </a:srgbClr>
          </a:solidFill>
          <a:ln w="12700">
            <a:solidFill>
              <a:srgbClr val="5E6AD2">
                <a:alpha val="2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0" y="1371600"/>
            <a:ext cx="45720" cy="2377440"/>
          </a:xfrm>
          <a:prstGeom prst="rect">
            <a:avLst/>
          </a:prstGeom>
          <a:solidFill>
            <a:srgbClr val="5E6AD2"/>
          </a:solidFill>
          <a:ln w="12700">
            <a:solidFill>
              <a:srgbClr val="5E6AD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1316736"/>
            <a:ext cx="84124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Capture</a:t>
            </a:r>
            <a:endParaRPr lang="en-US" sz="6400" dirty="0"/>
          </a:p>
        </p:txBody>
      </p:sp>
      <p:sp>
        <p:nvSpPr>
          <p:cNvPr id="54" name="Text 52"/>
          <p:cNvSpPr/>
          <p:nvPr/>
        </p:nvSpPr>
        <p:spPr>
          <a:xfrm>
            <a:off x="658368" y="2450592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5E6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respect the speed of thought.</a:t>
            </a:r>
            <a:endParaRPr lang="en-US" sz="1900" dirty="0"/>
          </a:p>
        </p:txBody>
      </p:sp>
      <p:sp>
        <p:nvSpPr>
          <p:cNvPr id="55" name="Text 53"/>
          <p:cNvSpPr/>
          <p:nvPr/>
        </p:nvSpPr>
        <p:spPr>
          <a:xfrm>
            <a:off x="658368" y="310896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been a founder. I built this for the version of me that was speaking rough Cursor prompts into the void, cleaning them up manually, and pasting them in. The product decision was obvious once I was honest about what the real job was: not note-taking. Getting from messy thought to usable text, without stopping.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58368" y="4315968"/>
            <a:ext cx="2560320" cy="0"/>
          </a:xfrm>
          <a:prstGeom prst="line">
            <a:avLst/>
          </a:prstGeom>
          <a:noFill/>
          <a:ln w="10160">
            <a:solidFill>
              <a:srgbClr val="3A3B4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8368" y="446227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Aditi Raghavan  ·  aditiraghav28@gmail.com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 Capture — Product Design Case Study</dc:title>
  <dc:subject>PptxGenJS Presentation</dc:subject>
  <dc:creator>PptxGenJS</dc:creator>
  <cp:lastModifiedBy>PptxGenJS</cp:lastModifiedBy>
  <cp:revision>1</cp:revision>
  <dcterms:created xsi:type="dcterms:W3CDTF">2026-05-16T22:55:02Z</dcterms:created>
  <dcterms:modified xsi:type="dcterms:W3CDTF">2026-05-16T22:55:02Z</dcterms:modified>
</cp:coreProperties>
</file>